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685800"/>
            <a:ext cx="2286000" cy="2286000"/>
          </a:xfrm>
          <a:prstGeom prst="ellipse">
            <a:avLst/>
          </a:prstGeom>
          <a:solidFill>
            <a:srgbClr val="6F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148840"/>
            <a:ext cx="1325880" cy="1325880"/>
          </a:xfrm>
          <a:prstGeom prst="ellipse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960120" cy="960120"/>
          </a:xfrm>
          <a:prstGeom prst="ellipse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CCA35C"/>
                </a:solidFill>
                <a:latin typeface="Aptos"/>
              </a:rPr>
              <a:t>FEEDBACK-REFLECTED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68580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DAEGU, IN A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대구를 경험하는 새로운 하루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520440"/>
            <a:ext cx="6675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0D8CC"/>
                </a:solidFill>
                <a:latin typeface="Aptos"/>
              </a:rPr>
              <a:t>커피와 베이커리에서 시작해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E0D8CC"/>
                </a:solidFill>
                <a:latin typeface="Aptos"/>
              </a:rPr>
              <a:t>지역의 가게·이야기·사람을 연결하는 로컬 경험 플랫폼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4937760"/>
            <a:ext cx="1965960" cy="54864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21208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0D8CC"/>
                </a:solidFill>
                <a:latin typeface="Aptos"/>
              </a:rPr>
              <a:t>기존 제안 + 피드백 반영 사항 통합본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01 / FEEDBACK TO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피드백을 통해 기획의 초점을 구체화하다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초기 아이디어를 유지하되, 실행 단위를 코스형 경험과 소상공인 브랜딩으로 구체화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73152" cy="196596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3154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피드백 01  소상공인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32303"/>
            <a:ext cx="3136392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참여 매장마다 개성 있는 캐릭터와 스토리를 만들어 가게의 브랜딩을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73152" cy="196596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20824"/>
            <a:ext cx="3154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피드백 02  지역 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32303"/>
            <a:ext cx="3136392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한 지역만 고르기보다 교동·동성로·수성못·팔공산을 각기 다른 테마 코스로 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73152" cy="1965960"/>
          </a:xfrm>
          <a:prstGeom prst="rect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020824"/>
            <a:ext cx="3154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피드백 03  근거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32303"/>
            <a:ext cx="3136392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대구 커피의 역사, 지역 브랜드, 축제와 카페 네트워크를 조사해 ‘왜 대구인가’를 보강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51960"/>
            <a:ext cx="10927080" cy="960120"/>
          </a:xfrm>
          <a:prstGeom prst="roundRect">
            <a:avLst>
              <a:gd name="adj" fmla="val 12000"/>
            </a:avLst>
          </a:prstGeom>
          <a:solidFill>
            <a:srgbClr val="30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핵심 변화  |  추상적인 로컬 컬처 플랫폼 → 코스형 스탬프 투어 + 매장별 브랜딩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02 / 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기존 기획의 핵심은 유지한다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대구만의 로컬 콘텐츠를 만들고, 방문·체류·교류를 유도한다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1874519"/>
            <a:ext cx="658368" cy="658368"/>
          </a:xfrm>
          <a:prstGeom prst="ellipse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02B26"/>
                </a:solidFill>
                <a:latin typeface="Aptos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0672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대구만의 이야기와 문화를 브랜드 자산으로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029968"/>
            <a:ext cx="411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96839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0" y="1874519"/>
            <a:ext cx="658368" cy="658368"/>
          </a:xfrm>
          <a:prstGeom prst="ellipse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02B26"/>
                </a:solidFill>
                <a:latin typeface="Aptos"/>
              </a:rPr>
              <a:t>TASTE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90672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커피·베이커리를 방문의 첫 접점으로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029968"/>
            <a:ext cx="411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96839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1874519"/>
            <a:ext cx="658368" cy="658368"/>
          </a:xfrm>
          <a:prstGeom prst="ellipse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02B26"/>
                </a:solidFill>
                <a:latin typeface="Aptos"/>
              </a:rP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90672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취향 기반 모임과 사람 간 교류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029968"/>
            <a:ext cx="411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96839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966960" y="1874519"/>
            <a:ext cx="658368" cy="658368"/>
          </a:xfrm>
          <a:prstGeom prst="ellipse">
            <a:avLst/>
          </a:prstGeom>
          <a:solidFill>
            <a:srgbClr val="6F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02B26"/>
                </a:solidFill>
                <a:latin typeface="Aptos"/>
              </a:rPr>
              <a:t>STAY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90672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하루 코스와 체험으로 체류 이유 제공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10287000" cy="749808"/>
          </a:xfrm>
          <a:prstGeom prst="roundRect">
            <a:avLst>
              <a:gd name="adj" fmla="val 12000"/>
            </a:avLst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773168"/>
            <a:ext cx="9829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302B26"/>
                </a:solidFill>
                <a:latin typeface="Aptos"/>
              </a:rPr>
              <a:t>새로운 실행 모델: 지역별 코스 + 참여 매장 캐릭터 + 스탬프·리워드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03 / WHY COFFEE IN DAEGU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왜 커피와 베이커리인가?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‘카페가 많다’는 주장 하나에 기대지 않고, 역사·산업·현재의 행사 기반을 함께 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5204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73152" cy="224028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29384"/>
            <a:ext cx="3154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01  역사적 자산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40864"/>
            <a:ext cx="313639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대구의 다방은 문인·화가·음악가가 교류한 문화 공간으로 소개됨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예: 아루스다방, 백록다방, 꽃자리다방, 녹향, 미도다방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73152" cy="224028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29384"/>
            <a:ext cx="3154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02  지역 브랜드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40864"/>
            <a:ext cx="313639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커피명가(1990년 창업으로 소개), 다빈치커피, 핸즈커피 등 대구에서 성장한 브랜드를 지역 산업의 사례로 활용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783080"/>
            <a:ext cx="35204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783080"/>
            <a:ext cx="73152" cy="2240280"/>
          </a:xfrm>
          <a:prstGeom prst="rect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9384"/>
            <a:ext cx="3154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03  현재의 기반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40864"/>
            <a:ext cx="313639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대구국제커피&amp;카페페스타, 커피·베이커리 축제, 지역 카페 연계 스탬프 투어 등 기존 행사·네트워크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43400"/>
            <a:ext cx="10835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378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기획 논리  |  역사적 스토리 + 지역에서 성장한 브랜드 + 현재의 행사 기반</a:t>
            </a:r>
          </a:p>
          <a:p>
            <a:pPr algn="ctr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→ 개별 매장을 넘어 대구의 커피 문화를 경험하는 코스로 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50992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※ 역사·브랜드 연혁·행사 실적은 최종 발표 전 공식 출처와 기준 연도를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04 / EVIDENCE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근거는 활용하되, 수치의 기준을 분명히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자료마다 조사 시점과 지표가 다를 수 있으므로 ‘전국 1위’는 단정하지 않는다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196596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29384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커피점 밀도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40864"/>
            <a:ext cx="3044952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KB금융 보고서(2019) 관련 정리: 인구 1,000명당 서울 중구 8.80개, 대구 중구 7.68개로 소개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83080"/>
            <a:ext cx="73152" cy="196596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9384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행사 규모 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40864"/>
            <a:ext cx="3044952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수집 자료 기준: 2025년 음식산업박람회·커피페스타 합산 3일간 약 4만 명 방문, 262개사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73152" cy="1965960"/>
          </a:xfrm>
          <a:prstGeom prst="rect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29384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지역 베이커리 자산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40864"/>
            <a:ext cx="3044952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대구시가 2021년 빵의 역사를 담은 책 『빵은 대구』를 발행했다는 자료를 지역 베이커리 서사에 활용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10789920" cy="1097280"/>
          </a:xfrm>
          <a:prstGeom prst="roundRect">
            <a:avLst>
              <a:gd name="adj" fmla="val 12000"/>
            </a:avLst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61688"/>
            <a:ext cx="1033272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검증할 항목  |  조사 연도 · 커피전문점 정의 · 인구 대비/전체 사업체 수 구분 · 행사 실적 집계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955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96839"/>
                </a:solidFill>
                <a:latin typeface="Aptos"/>
              </a:rPr>
              <a:t>권장 표현: “대구는 커피의 역사·지역 브랜드·행사 기반을 보유하고 있다.”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05 / ROUTE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한 지역에 한정하지 않고, 네 가지 경험 코스로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공통 브랜드 아래 지역마다 다른 타깃과 매력을 부여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73152" cy="155448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29384"/>
            <a:ext cx="4892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교동  |  개성을 발견하는 골목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40864"/>
            <a:ext cx="48737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타깃: 카페 탐방객·젊은 층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실행: 캐릭터 수집 지도 · 골목 스탬프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178308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7" y="1783080"/>
            <a:ext cx="73152" cy="155448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929384"/>
            <a:ext cx="4892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동성로  |  도심 디저트 탐험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340864"/>
            <a:ext cx="48737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타깃: 쇼핑객·관광객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실행: 공동 지도 · 디저트 패스 · 이벤트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21608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21608"/>
            <a:ext cx="73152" cy="1554480"/>
          </a:xfrm>
          <a:prstGeom prst="rect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67912"/>
            <a:ext cx="4892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수성못  |  커피와 함께하는 호수의 하루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79392"/>
            <a:ext cx="48737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타깃: 가족·연인·지역 시민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실행: 산책 코스 · 피크닉 세트 · 독서 모임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3721608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7" y="3721608"/>
            <a:ext cx="73152" cy="1554480"/>
          </a:xfrm>
          <a:prstGeom prst="rect">
            <a:avLst/>
          </a:prstGeom>
          <a:solidFill>
            <a:srgbClr val="6F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5" y="3867912"/>
            <a:ext cx="4892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팔공산  |  자연 속 베이커리 여행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5" y="4279392"/>
            <a:ext cx="48737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타깃: 가족·드라이브 방문객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06961"/>
                </a:solidFill>
                <a:latin typeface="Aptos"/>
              </a:rPr>
              <a:t>실행: 베이커리 드라이브 · 지역 메뉴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42432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02B26"/>
                </a:solidFill>
                <a:latin typeface="Aptos"/>
              </a:rPr>
              <a:t>지역을 하나로 좁히기보다, 콘셉트별 타깃을 정해 각 코스를 홍보한다.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06 / SMALL BUSINESS BRANDING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차별화의 핵심: ‘대구 카페 캐릭터 유니버스’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상권 공통 캐릭터와 겹치지 않도록, 플랫폼은 ‘가게별 캐릭터’를 지원</a:t>
            </a:r>
          </a:p>
        </p:txBody>
      </p:sp>
      <p:sp>
        <p:nvSpPr>
          <p:cNvPr id="8" name="Oval 7"/>
          <p:cNvSpPr/>
          <p:nvPr/>
        </p:nvSpPr>
        <p:spPr>
          <a:xfrm>
            <a:off x="1783080" y="1828800"/>
            <a:ext cx="685800" cy="685800"/>
          </a:xfrm>
          <a:prstGeom prst="ellipse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6974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가게의 이야기 발굴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697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대표 메뉴·공간·사장님의 이야기를 인터뷰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594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96839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1828800"/>
            <a:ext cx="685800" cy="685800"/>
          </a:xfrm>
          <a:prstGeom prst="ellipse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26974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캐릭터·브랜드 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63240"/>
            <a:ext cx="2697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간단한 일러스트, 소개 문구, 스탬프 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11680"/>
            <a:ext cx="594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96839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9372600" y="1828800"/>
            <a:ext cx="685800" cy="685800"/>
          </a:xfrm>
          <a:prstGeom prst="ellipse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6974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매장 홍보와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63240"/>
            <a:ext cx="2697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컵 슬리브·스티커·SNS·지도에 활용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07442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10241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02B26"/>
                </a:solidFill>
                <a:latin typeface="Aptos"/>
              </a:rPr>
              <a:t>운영 원칙  |  파일럿은 가벼운 일러스트부터 시작 → 반응이 좋은 매장은 IP 지원사업 연계 검토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02B26"/>
                </a:solidFill>
                <a:latin typeface="Aptos"/>
              </a:rPr>
              <a:t>캐릭터 저작권은 매장 소유, 플랫폼은 홍보 목적의 사용 권한을 갖는 방식으로 사전 합의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650992"/>
            <a:ext cx="10424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참고: 동성로의 상권 브랜드·캐릭터 ‘Play It 동성로’·‘빅디’와 가게별 캐릭터의 역할을 구분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07 / STAMP TOUR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스탬프를 모으는 재미가 실제 방문으로 이어지도록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매장 방문 → 이야기 발견 → 리워드 → 다른 코스 재방문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8745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87451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코스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783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>
                <a:solidFill>
                  <a:srgbClr val="706961"/>
                </a:solidFill>
                <a:latin typeface="Aptos"/>
              </a:rPr>
              <a:t>지역·취향에 맞는 코스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697480"/>
            <a:ext cx="25603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C96839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05740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2267712"/>
            <a:ext cx="18745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633472"/>
            <a:ext cx="187451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매장 방문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799" y="3063240"/>
            <a:ext cx="1783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>
                <a:solidFill>
                  <a:srgbClr val="706961"/>
                </a:solidFill>
                <a:latin typeface="Aptos"/>
              </a:rPr>
              <a:t>커피·빵·시그니처 메뉴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7" y="2697480"/>
            <a:ext cx="25603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C96839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205740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799" y="2267712"/>
            <a:ext cx="18745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COLLECT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799" y="2633472"/>
            <a:ext cx="187451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스탬프 수집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63240"/>
            <a:ext cx="1783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>
                <a:solidFill>
                  <a:srgbClr val="706961"/>
                </a:solidFill>
                <a:latin typeface="Aptos"/>
              </a:rPr>
              <a:t>매장별 캐릭터와 이야기 수집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697480"/>
            <a:ext cx="25603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C96839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05740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267712"/>
            <a:ext cx="18745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REWARD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2633472"/>
            <a:ext cx="187451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리워드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63240"/>
            <a:ext cx="1783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>
                <a:solidFill>
                  <a:srgbClr val="706961"/>
                </a:solidFill>
                <a:latin typeface="Aptos"/>
              </a:rPr>
              <a:t>스티커·굿즈·제휴 혜택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2697480"/>
            <a:ext cx="25603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C96839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05740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267712"/>
            <a:ext cx="18745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633472"/>
            <a:ext cx="187451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재방문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063240"/>
            <a:ext cx="1783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>
                <a:solidFill>
                  <a:srgbClr val="706961"/>
                </a:solidFill>
                <a:latin typeface="Aptos"/>
              </a:rPr>
              <a:t>다른 지역 코스까지 탐험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34840"/>
            <a:ext cx="10744200" cy="822960"/>
          </a:xfrm>
          <a:prstGeom prst="roundRect">
            <a:avLst>
              <a:gd name="adj" fmla="val 12000"/>
            </a:avLst>
          </a:prstGeom>
          <a:solidFill>
            <a:srgbClr val="30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645152"/>
            <a:ext cx="102412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종이 지도부터 시작하고, 참여와 재방문 데이터가 쌓이면 모바일 방식으로 확장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08 / SUPPORT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소상공인 지원은 기존 제도와 연결해 현실화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참여 매장에 ‘플랫폼 참여 = 브랜딩 기회’라는 명확한 동기를 제공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1663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201168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29384"/>
            <a:ext cx="4800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파일럿 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40864"/>
            <a:ext cx="478231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매장별 캐릭터 콘셉트와 짧은 스토리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스탬프·스티커·컵 슬리브 등 소규모 제작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매장별 SNS 홍보 콘텐츠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51663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83080"/>
            <a:ext cx="73152" cy="201168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929384"/>
            <a:ext cx="4800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02B26"/>
                </a:solidFill>
                <a:latin typeface="Aptos"/>
              </a:rPr>
              <a:t>성장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340864"/>
            <a:ext cx="478231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반응이 좋은 매장은 정식 브랜딩으로 발전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대구지식재산센터 등 관련 지원사업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네이밍·로고·캐릭터·패키지·상표 출원 지원 가능성 검토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10607040" cy="1097280"/>
          </a:xfrm>
          <a:prstGeom prst="roundRect">
            <a:avLst>
              <a:gd name="adj" fmla="val 12000"/>
            </a:avLst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101498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02B26"/>
                </a:solidFill>
                <a:latin typeface="Aptos"/>
              </a:rPr>
              <a:t>조사 메모: 2026년 ‘소상공인 IP창출 종합패키지’ 공고 자료에 브랜드 개발·권리화 지원이 소개됨.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02B26"/>
                </a:solidFill>
                <a:latin typeface="Aptos"/>
              </a:rPr>
              <a:t>올해 접수 마감 및 세부 조건은 다음 공고에서 재확인 필요.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50992"/>
            <a:ext cx="1051560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C96839"/>
                </a:solidFill>
                <a:latin typeface="Aptos"/>
              </a:rPr>
              <a:t>지원사업은 확정 재원으로 표현하지 말고, ‘연계 검토’로 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09 / PILOT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작게 검증하고, 반응을 보고 확장한다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처음부터 네 코스를 모두 크게 운영하기보다 참여 의향과 실행 가능성을 먼저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233172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PHASE 1  |  매장·고객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86584"/>
            <a:ext cx="3090672" cy="16916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매장 참여 의향 인터뷰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방문객·시민 10~15명 의견 수집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코스와 리워드 수요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4747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73152" cy="233172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975104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PHASE 2  |  소규모 파일럿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86584"/>
            <a:ext cx="3090672" cy="16916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1~2개 코스 시범 운영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종이 지도와 스탬프 제작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캐릭터 시안과 리워드 테스트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4747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828800"/>
            <a:ext cx="73152" cy="2331720"/>
          </a:xfrm>
          <a:prstGeom prst="rect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975104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PHASE 3  |  평가·확장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386584"/>
            <a:ext cx="3090672" cy="16916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참여율·완주율·재방문 의향 분석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매장 피드백 반영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• 나머지 지역으로 확대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17720"/>
            <a:ext cx="10561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18888"/>
            <a:ext cx="10195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02B26"/>
                </a:solidFill>
                <a:latin typeface="Aptos"/>
              </a:rPr>
              <a:t>주요 지표: 참여 매장 수 · 스탬프 인증 수 · 코스 완주율 · 쿠폰 사용 · 재방문 의향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C96839"/>
                </a:solidFill>
                <a:latin typeface="Aptos"/>
              </a:rPr>
              <a:t>10 / DECISIONS TO MAKE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06961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E8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706961"/>
                </a:solidFill>
                <a:latin typeface="Aptos"/>
              </a:rPr>
              <a:t>DAEGU, IN A DAY  /  LOCAL 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68096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302B26"/>
                </a:solidFill>
                <a:latin typeface="Aptos"/>
              </a:rPr>
              <a:t>실행 전에 결정해야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기획의 설득력을 높이려면 아이디어뿐 아니라 운영 원칙도 명확해야 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747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210312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29384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참여 매장 선정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40864"/>
            <a:ext cx="3090672" cy="1463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지역별 업종·동선·영업시간·참여 의향을 확인하고, 실제 방문 가능한 코스로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4747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83080"/>
            <a:ext cx="73152" cy="2103120"/>
          </a:xfrm>
          <a:prstGeom prst="rect">
            <a:avLst/>
          </a:prstGeom>
          <a:solidFill>
            <a:srgbClr val="7E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9384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권리와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40864"/>
            <a:ext cx="3090672" cy="1463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캐릭터 저작권, 플랫폼 사용 권한, 제작비·리워드 비용, 매장 간 혜택 기준 합의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4747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73152" cy="2103120"/>
          </a:xfrm>
          <a:prstGeom prst="rect">
            <a:avLst/>
          </a:prstGeom>
          <a:solidFill>
            <a:srgbClr val="CC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29384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02B26"/>
                </a:solidFill>
                <a:latin typeface="Aptos"/>
              </a:rPr>
              <a:t>기존 사업과 차별화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40864"/>
            <a:ext cx="3090672" cy="1463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06961"/>
                </a:solidFill>
                <a:latin typeface="Aptos"/>
              </a:rPr>
              <a:t>커피페스타 등 기존 행사와 중복되지 않도록 연중 운영·매장 브랜딩·지역 간 이동에 집중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10835640" cy="868680"/>
          </a:xfrm>
          <a:prstGeom prst="roundRect">
            <a:avLst>
              <a:gd name="adj" fmla="val 12000"/>
            </a:avLst>
          </a:prstGeom>
          <a:solidFill>
            <a:srgbClr val="30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다음 액션  |  공식 근거 확인 → 매장 인터뷰 → 코스 지도 초안 → 파일럿 참여자 모집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CCA35C"/>
                </a:solidFill>
                <a:latin typeface="Aptos"/>
              </a:rP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98755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대구의 가게를 연결하고,</a:t>
            </a:r>
          </a:p>
          <a:p>
            <a:pPr algn="l"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대구를 경험할 이유를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784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0D8CC"/>
                </a:solidFill>
                <a:latin typeface="Aptos"/>
              </a:rPr>
              <a:t>커피와 베이커리의 역사·브랜드·공간을 지역별 코스로 연결하고,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E0D8CC"/>
                </a:solidFill>
                <a:latin typeface="Aptos"/>
              </a:rPr>
              <a:t>가게마다 고유한 캐릭터와 이야기를 더해 지속 가능한 로컬 경험으로 만든다.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2011680" cy="54864"/>
          </a:xfrm>
          <a:prstGeom prst="rect">
            <a:avLst/>
          </a:prstGeom>
          <a:solidFill>
            <a:srgbClr val="C96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6400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CA35C"/>
                </a:solidFill>
                <a:latin typeface="Aptos"/>
              </a:rPr>
              <a:t>DAEGU, IN A DAY  ·  DAEGU TASTE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B7AEA1"/>
                </a:solidFill>
                <a:latin typeface="Aptos"/>
              </a:rPr>
              <a:t>FEEDBACK-REFLECTED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