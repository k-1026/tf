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/eikWbtlgs+1RA5FpBQHiLVN7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393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818120" y="502920"/>
            <a:ext cx="3383280" cy="3383280"/>
          </a:xfrm>
          <a:prstGeom prst="ellipse">
            <a:avLst/>
          </a:prstGeom>
          <a:solidFill>
            <a:srgbClr val="D369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458200" y="1143000"/>
            <a:ext cx="2103120" cy="2103120"/>
          </a:xfrm>
          <a:prstGeom prst="ellipse">
            <a:avLst/>
          </a:prstGeom>
          <a:solidFill>
            <a:srgbClr val="F5E2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070848" y="1755648"/>
            <a:ext cx="877824" cy="877824"/>
          </a:xfrm>
          <a:prstGeom prst="ellipse">
            <a:avLst/>
          </a:prstGeom>
          <a:solidFill>
            <a:srgbClr val="3039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720840" y="3886200"/>
            <a:ext cx="438912" cy="914400"/>
          </a:xfrm>
          <a:prstGeom prst="rect">
            <a:avLst/>
          </a:prstGeom>
          <a:solidFill>
            <a:srgbClr val="5069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406640" y="3291840"/>
            <a:ext cx="438912" cy="1508760"/>
          </a:xfrm>
          <a:prstGeom prst="rect">
            <a:avLst/>
          </a:prstGeom>
          <a:solidFill>
            <a:srgbClr val="E8E2D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092440" y="3657600"/>
            <a:ext cx="438912" cy="1143000"/>
          </a:xfrm>
          <a:prstGeom prst="rect">
            <a:avLst/>
          </a:prstGeom>
          <a:solidFill>
            <a:srgbClr val="5069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778240" y="2971800"/>
            <a:ext cx="438912" cy="1828800"/>
          </a:xfrm>
          <a:prstGeom prst="rect">
            <a:avLst/>
          </a:prstGeom>
          <a:solidFill>
            <a:srgbClr val="E8E2D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464040" y="3474720"/>
            <a:ext cx="438912" cy="1325880"/>
          </a:xfrm>
          <a:prstGeom prst="rect">
            <a:avLst/>
          </a:prstGeom>
          <a:solidFill>
            <a:srgbClr val="5069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0149840" y="2651760"/>
            <a:ext cx="438912" cy="2148840"/>
          </a:xfrm>
          <a:prstGeom prst="rect">
            <a:avLst/>
          </a:prstGeom>
          <a:solidFill>
            <a:srgbClr val="E8E2D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0835640" y="3246120"/>
            <a:ext cx="438912" cy="1554480"/>
          </a:xfrm>
          <a:prstGeom prst="rect">
            <a:avLst/>
          </a:prstGeom>
          <a:solidFill>
            <a:srgbClr val="5069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749808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E2D4"/>
                </a:solidFill>
                <a:latin typeface="Arial"/>
                <a:ea typeface="Arial"/>
                <a:cs typeface="Arial"/>
                <a:sym typeface="Arial"/>
              </a:rPr>
              <a:t>DAEGU, IN A DAY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49808" y="1417320"/>
            <a:ext cx="6492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대구를 경험하는</a:t>
            </a:r>
            <a:br>
              <a:rPr b="1" i="0" lang="en-US" sz="36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새로운 하루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804672" y="3474720"/>
            <a:ext cx="5852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커피와 베이커리에서 시작해</a:t>
            </a:r>
            <a:br>
              <a:rPr b="0" i="0" lang="en-US" sz="19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로컬 문화와 사람을 연결하는 플랫폼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04672" y="601675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2D4"/>
                </a:solidFill>
                <a:latin typeface="Arial"/>
                <a:ea typeface="Arial"/>
                <a:cs typeface="Arial"/>
                <a:sym typeface="Arial"/>
              </a:rPr>
              <a:t>대구 로컬 컬처 플랫폼 구축 제안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6537960" y="601675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LOCAL IDENTITY  ·  COMMUNITY  ·  STAY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01 / THE IDEA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대구를 ‘지나가는 곳’에서 ‘머무는 곳’으로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네 가지 의견을 하나의 방향으로 통합한 프로젝트 제안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85800" y="2331720"/>
            <a:ext cx="2578608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86968" y="2578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886968" y="2999232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대구만의 정체성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86968" y="359359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지역의 이야기와 문화를</a:t>
            </a:r>
            <a:b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차별화된 브랜드 자산으로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566160" y="2331720"/>
            <a:ext cx="2578608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3767328" y="2578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TASTE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3767328" y="2999232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커피 &amp; 베이커리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3767328" y="359359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사람들이 찾아올 수 있는</a:t>
            </a:r>
            <a:b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매력적인 첫 접점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6446520" y="2331720"/>
            <a:ext cx="2578608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647688" y="2578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COMMUNITY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647688" y="2999232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취향 기반 커뮤니티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647688" y="359359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독서·커피·문화 활동으로</a:t>
            </a:r>
            <a:b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사람과 사람을 연결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9326880" y="2331720"/>
            <a:ext cx="2578608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9528048" y="2578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STAY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9528048" y="2999232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하루의 경험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9528048" y="359359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시민과 방문객이 대구에서</a:t>
            </a:r>
            <a:b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더 오래 머물 이유를 제공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31520" y="52578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핵심 방향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874519" y="5193792"/>
            <a:ext cx="9326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대구만의 로컬 콘텐츠를 만들고, 이를 통해 방문·체류·교류를 유도한다.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02 / FOUR VOICES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네 가지 의견은 하나의 흐름으로 연결된다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서로 다른 아이디어가 아니라, 하나의 브랜드를 이루는 네 가지 역할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713232" y="2240280"/>
            <a:ext cx="5257800" cy="1444752"/>
          </a:xfrm>
          <a:prstGeom prst="roundRect">
            <a:avLst>
              <a:gd fmla="val 16667" name="adj"/>
            </a:avLst>
          </a:prstGeom>
          <a:solidFill>
            <a:srgbClr val="E0E7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96112" y="242316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463040" y="238658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커뮤니티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463040" y="2807208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사람들이 만나고</a:t>
            </a:r>
            <a:b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관계를 쌓는다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4050791" y="2743200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독서모임 · 취향 모임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6382512" y="2240280"/>
            <a:ext cx="5257800" cy="1444752"/>
          </a:xfrm>
          <a:prstGeom prst="roundRect">
            <a:avLst>
              <a:gd fmla="val 16667" name="adj"/>
            </a:avLst>
          </a:prstGeom>
          <a:solidFill>
            <a:srgbClr val="F5E2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565392" y="242316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132320" y="238658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정체성 &amp; IP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7132320" y="2807208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대구만의 이야기를</a:t>
            </a:r>
            <a:b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브랜드로 축적한다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9720072" y="2743200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로컬 스토리 · 디자인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713232" y="3995928"/>
            <a:ext cx="5257800" cy="1444752"/>
          </a:xfrm>
          <a:prstGeom prst="roundRect">
            <a:avLst>
              <a:gd fmla="val 16667" name="adj"/>
            </a:avLst>
          </a:prstGeom>
          <a:solidFill>
            <a:srgbClr val="E8E2D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896112" y="417880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1463040" y="414223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체류 경험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463040" y="4562856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대구에서 하루를</a:t>
            </a:r>
            <a:b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보낼 이유를 만든다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4050791" y="4498848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하루 코스 · 문화 경험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6382512" y="3995928"/>
            <a:ext cx="5257800" cy="1444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565392" y="417880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7132320" y="414223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커피 &amp; 베이커리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7132320" y="4562856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방문을 시작하게 하는</a:t>
            </a:r>
            <a:b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매력적인 거점이 된다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9720072" y="4498848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로컬 메뉴 · 공간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960120" y="596188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브랜드의 정체성 → 방문 동기 → 사람들의 교류 → 대구 체류 경험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393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E2D4"/>
                </a:solidFill>
                <a:latin typeface="Arial"/>
                <a:ea typeface="Arial"/>
                <a:cs typeface="Arial"/>
                <a:sym typeface="Arial"/>
              </a:rPr>
              <a:t>03 / WHY DAEGU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대구를 선택할 ‘이유’를 더 선명하게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문제 인식은 팀의 가설이며, 실제 실행 전 시민·방문객 조사를 통해 검증한다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749808" y="221284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5E2D4"/>
                </a:solidFill>
                <a:latin typeface="Arial"/>
                <a:ea typeface="Arial"/>
                <a:cs typeface="Arial"/>
                <a:sym typeface="Arial"/>
              </a:rPr>
              <a:t>우리가 주목한 과제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777240" y="274320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•  대구만의 매력을 하나의 경험으로 전달할 필요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•  개별 카페·명소를 넘어 연결된 콘텐츠가 필요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•  방문을 재방문과 커뮤니티 참여로 이어갈 장치가 필요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6217920" y="2240280"/>
            <a:ext cx="27432" cy="2971800"/>
          </a:xfrm>
          <a:prstGeom prst="rect">
            <a:avLst/>
          </a:prstGeom>
          <a:solidFill>
            <a:srgbClr val="5069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6720840" y="221284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5E2D4"/>
                </a:solidFill>
                <a:latin typeface="Arial"/>
                <a:ea typeface="Arial"/>
                <a:cs typeface="Arial"/>
                <a:sym typeface="Arial"/>
              </a:rPr>
              <a:t>우리가 만들 기회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6720840" y="2743200"/>
            <a:ext cx="4572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•  로컬 카페와 베이커리를 문화 경험의 입구로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•  독서·대화·산책을 묶어 하루 코스로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•  대구의 이야기와 디자인을 브랜드 IP로 축적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960120" y="57150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목표는 매장 하나가 아니라, 대구를 경험하는 새로운 방식이다.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04 / BRAND CONCEPT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 로컬 컬처 플랫폼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커피와 베이커리를 매개로 지역의 이야기와 사람을 연결하는 브랜드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731520" y="2240280"/>
            <a:ext cx="3657600" cy="3154680"/>
          </a:xfrm>
          <a:prstGeom prst="roundRect">
            <a:avLst>
              <a:gd fmla="val 16667" name="adj"/>
            </a:avLst>
          </a:prstGeom>
          <a:solidFill>
            <a:srgbClr val="3039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1051560" y="26060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2D4"/>
                </a:solidFill>
                <a:latin typeface="Arial"/>
                <a:ea typeface="Arial"/>
                <a:cs typeface="Arial"/>
                <a:sym typeface="Arial"/>
              </a:rPr>
              <a:t>DAEGU, IN A DAY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051560" y="3127248"/>
            <a:ext cx="3063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대구를 경험하는</a:t>
            </a:r>
            <a:br>
              <a:rPr b="1" i="0" lang="en-US" sz="27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7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새로운 하루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1051560" y="48463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LOCAL CULTURE, SHARED TASTE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4983480" y="22860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브랜드가 제공하는 가치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5010912" y="2852928"/>
            <a:ext cx="310896" cy="310896"/>
          </a:xfrm>
          <a:prstGeom prst="ellipse">
            <a:avLst/>
          </a:prstGeom>
          <a:solidFill>
            <a:srgbClr val="D369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5486400" y="28346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발견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6492240" y="28346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대구의 새로운 장소와 이야기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010912" y="3447288"/>
            <a:ext cx="310896" cy="310896"/>
          </a:xfrm>
          <a:prstGeom prst="ellipse">
            <a:avLst/>
          </a:prstGeom>
          <a:solidFill>
            <a:srgbClr val="5069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5486400" y="34290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경험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6492240" y="34290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커피·베이커리·문화 프로그램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010912" y="4041648"/>
            <a:ext cx="310896" cy="310896"/>
          </a:xfrm>
          <a:prstGeom prst="ellipse">
            <a:avLst/>
          </a:prstGeom>
          <a:solidFill>
            <a:srgbClr val="5069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0" y="402336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연결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6492240" y="40233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지역 주민과 국내외 방문객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010912" y="4636008"/>
            <a:ext cx="310896" cy="310896"/>
          </a:xfrm>
          <a:prstGeom prst="ellipse">
            <a:avLst/>
          </a:prstGeom>
          <a:solidFill>
            <a:srgbClr val="5069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5486400" y="46177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축적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6492240" y="46177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콘텐츠와 커뮤니티가 만드는 IP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05 / EXPERIENCE DESIGN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한 잔의 커피에서 대구의 하루까지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각 요소가 독립적으로 끝나지 않고 다음 경험으로 이어지도록 설계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594360" y="2560320"/>
            <a:ext cx="20116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758952" y="27432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758952" y="312724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758952" y="352044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 발견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758952" y="4005072"/>
            <a:ext cx="1673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로컬 콘텐츠·지도·SNS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2624328" y="340156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2926079" y="2560320"/>
            <a:ext cx="20116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3090672" y="27432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3090672" y="312724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TASTE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3090672" y="352044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맛보기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3090672" y="4005072"/>
            <a:ext cx="1673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커피·베이커리·시그니처 메뉴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4956048" y="340156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257800" y="2560320"/>
            <a:ext cx="20116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5422392" y="27432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5422392" y="312724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5422392" y="352044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교류하기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5422392" y="4005072"/>
            <a:ext cx="1673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독서모임·취향 모임·대화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7287768" y="340156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7589519" y="2560320"/>
            <a:ext cx="20116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7754111" y="27432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7754111" y="312724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7754111" y="352044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둘러보기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7754111" y="4005072"/>
            <a:ext cx="1673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동네 산책·로컬 스팟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9619488" y="340156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9921240" y="2560320"/>
            <a:ext cx="20116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10085832" y="27432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10085832" y="312724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10085832" y="352044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다시 찾기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10085832" y="4005072"/>
            <a:ext cx="1673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멤버십·정기 행사·커뮤니티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960120" y="530352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처음 방문한 사람을 일회성 고객이 아니라, 대구의 경험을 공유하는 구성원으로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06 / WHO WE INVITE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대구에 사는 사람도, 대구를 찾는 사람도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같은 공간에서 서로 다른 이유로 만나고, 대구의 새로운 매력을 발견한다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31520" y="2514600"/>
            <a:ext cx="3401568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960120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960120" y="318211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 시민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960120" y="37673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늘 가던 동네를 새롭게 경험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960120" y="4315968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지역의 일상에 새로운 취향과 관계를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4526280" y="2514600"/>
            <a:ext cx="3401568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4754880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4754880" y="318211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국내 방문객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4754880" y="37673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하루 여행의 목적을 발견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4754880" y="4315968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카페 방문을 동네 경험과 문화로 확장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8321040" y="2514600"/>
            <a:ext cx="3401568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8549640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8549640" y="318211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외국인 방문객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8549640" y="37673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로컬 문화를 쉽고 깊게 체험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8549640" y="4315968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다국어 안내·체험 프로그램·로컬 스토리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공통의 약속: ‘대구에서 하루를 보내고 싶게 만드는 경험’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07 / BUILD THE IP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대구의 이야기를 반복 가능한 브랜드 자산으로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IP는 로고 하나가 아니라, 사람들이 기억하고 다시 찾게 만드는 이야기와 경험의 체계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731520" y="2560320"/>
            <a:ext cx="2578608" cy="2240280"/>
          </a:xfrm>
          <a:prstGeom prst="roundRect">
            <a:avLst>
              <a:gd fmla="val 16667" name="adj"/>
            </a:avLst>
          </a:prstGeom>
          <a:solidFill>
            <a:srgbClr val="F5E2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914400" y="28163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STORY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914400" y="3246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로컬 스토리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914400" y="3822191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동네·사람·역사·생활문화</a:t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3611880" y="2560320"/>
            <a:ext cx="2578608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3794760" y="28163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SIGNATURE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3794760" y="3246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시그니처 경험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3794760" y="3822191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대구에서만 만나는 메뉴·코스</a:t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6492240" y="2560320"/>
            <a:ext cx="2578608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6675120" y="28163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VISUAL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6675120" y="3246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브랜드 디자인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6675120" y="3822191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이름·캐릭터·패키지·지도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9372600" y="2560320"/>
            <a:ext cx="2578608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9555480" y="28163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COMMUNITY</a:t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9555480" y="3246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참여형 콘텐츠</a:t>
            </a:r>
            <a:endParaRPr/>
          </a:p>
        </p:txBody>
      </p:sp>
      <p:sp>
        <p:nvSpPr>
          <p:cNvPr id="290" name="Google Shape;290;p8"/>
          <p:cNvSpPr txBox="1"/>
          <p:nvPr/>
        </p:nvSpPr>
        <p:spPr>
          <a:xfrm>
            <a:off x="9555480" y="3822191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정기 모임·워크숍·시즌 행사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868680" y="534924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핵심: 대구의 자원을 가져오는 데서 끝내지 않고, 우리만의 관점과 형식으로 재해석한다.</a:t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08 / FIRST PILOT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작게 시작해, 반응으로 확장하기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초기에는 큰 공간이나 복잡한 앱보다 작은 프로그램으로 콘셉트를 검증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731520" y="2331720"/>
            <a:ext cx="3401568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960120" y="2606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960120" y="30175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콘셉트 검증</a:t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960120" y="3657600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핵심 타깃 10~15명 인터뷰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대구 로컬 이야기 1개 선정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커피·베이커리 파트너 탐색</a:t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4526280" y="2331720"/>
            <a:ext cx="3401568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4754880" y="2606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4754880" y="30175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팝업 운영</a:t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4754880" y="3657600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하루 체험 코스 1개 기획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독서·커피 모임 1회 진행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참여자 피드백 수집</a:t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8321040" y="2331720"/>
            <a:ext cx="3401568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549640" y="2606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/>
          </a:p>
        </p:txBody>
      </p:sp>
      <p:sp>
        <p:nvSpPr>
          <p:cNvPr id="312" name="Google Shape;312;p9"/>
          <p:cNvSpPr txBox="1"/>
          <p:nvPr/>
        </p:nvSpPr>
        <p:spPr>
          <a:xfrm>
            <a:off x="8549640" y="30175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브랜드화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8549640" y="3657600"/>
            <a:ext cx="2788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반응 좋은 프로그램 정례화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로컬 콘텐츠·지도 제작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•  브랜드 IP 및 협업 확장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868680" y="56235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검증 지표 예시: 신청률 · 실제 참여율 · 재방문 의향 · 지역 파트너 수 · 콘텐츠 공유율</a:t>
            </a:r>
            <a:endParaRPr/>
          </a:p>
        </p:txBody>
      </p:sp>
      <p:sp>
        <p:nvSpPr>
          <p:cNvPr id="315" name="Google Shape;315;p9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316" name="Google Shape;316;p9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E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 txBox="1"/>
          <p:nvPr/>
        </p:nvSpPr>
        <p:spPr>
          <a:xfrm>
            <a:off x="658368" y="384048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09 / HOW WE MEASURE</a:t>
            </a:r>
            <a:endParaRPr/>
          </a:p>
        </p:txBody>
      </p:sp>
      <p:sp>
        <p:nvSpPr>
          <p:cNvPr id="322" name="Google Shape;322;p10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좋은 아이디어를 실제 성과로 확인하기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685800" y="1426464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방문자 수만 보지 않고 체류·교류·재방문까지 함께 측정</a:t>
            </a:r>
            <a:endParaRPr/>
          </a:p>
        </p:txBody>
      </p:sp>
      <p:sp>
        <p:nvSpPr>
          <p:cNvPr id="324" name="Google Shape;324;p10"/>
          <p:cNvSpPr txBox="1"/>
          <p:nvPr/>
        </p:nvSpPr>
        <p:spPr>
          <a:xfrm>
            <a:off x="11109960" y="3931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640080" y="2514600"/>
            <a:ext cx="201168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804671" y="27432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유입</a:t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804671" y="327355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프로그램 신청자 수</a:t>
            </a:r>
            <a:b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신규 방문 비율</a:t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2944368" y="2514600"/>
            <a:ext cx="201168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3108960" y="27432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체류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3108960" y="327355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평균 체험 시간</a:t>
            </a:r>
            <a:b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코스 완주율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5248656" y="2514600"/>
            <a:ext cx="201168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5413248" y="27432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교류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5413248" y="327355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모임 참여율</a:t>
            </a:r>
            <a:b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참여자 만족도</a:t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7552944" y="2514600"/>
            <a:ext cx="201168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7717536" y="27432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지속</a:t>
            </a:r>
            <a:endParaRPr/>
          </a:p>
        </p:txBody>
      </p:sp>
      <p:sp>
        <p:nvSpPr>
          <p:cNvPr id="336" name="Google Shape;336;p10"/>
          <p:cNvSpPr txBox="1"/>
          <p:nvPr/>
        </p:nvSpPr>
        <p:spPr>
          <a:xfrm>
            <a:off x="7717536" y="327355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재방문 의향</a:t>
            </a:r>
            <a:b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재참여율</a:t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9857232" y="2514600"/>
            <a:ext cx="201168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10021824" y="27432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06953"/>
                </a:solidFill>
                <a:latin typeface="Arial"/>
                <a:ea typeface="Arial"/>
                <a:cs typeface="Arial"/>
                <a:sym typeface="Arial"/>
              </a:rPr>
              <a:t>지역성</a:t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10021824" y="327355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지역 파트너 수</a:t>
            </a:r>
            <a:b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로컬 콘텐츠 수</a:t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777240" y="4617720"/>
            <a:ext cx="10607040" cy="822960"/>
          </a:xfrm>
          <a:prstGeom prst="roundRect">
            <a:avLst>
              <a:gd fmla="val 16667" name="adj"/>
            </a:avLst>
          </a:prstGeom>
          <a:solidFill>
            <a:srgbClr val="F5E2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1051560" y="482803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3693E"/>
                </a:solidFill>
                <a:latin typeface="Arial"/>
                <a:ea typeface="Arial"/>
                <a:cs typeface="Arial"/>
                <a:sym typeface="Arial"/>
              </a:rPr>
              <a:t>주의할 점</a:t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2423160" y="4782312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72B27"/>
                </a:solidFill>
                <a:latin typeface="Arial"/>
                <a:ea typeface="Arial"/>
                <a:cs typeface="Arial"/>
                <a:sym typeface="Arial"/>
              </a:rPr>
              <a:t>대구의 정체성을 단정하지 말고, 시민·상인·방문객의 목소리로 검증하며 콘텐츠를 만든다.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DAEGU LOCAL CULTURE PLATFORM  /  CONCEPT PROPOSAL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11137392" y="647395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6D6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393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"/>
          <p:cNvSpPr txBox="1"/>
          <p:nvPr/>
        </p:nvSpPr>
        <p:spPr>
          <a:xfrm>
            <a:off x="749808" y="685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2D4"/>
                </a:solidFill>
                <a:latin typeface="Arial"/>
                <a:ea typeface="Arial"/>
                <a:cs typeface="Arial"/>
                <a:sym typeface="Arial"/>
              </a:rPr>
              <a:t>OUR PROPOSAL</a:t>
            </a:r>
            <a:endParaRPr/>
          </a:p>
        </p:txBody>
      </p:sp>
      <p:sp>
        <p:nvSpPr>
          <p:cNvPr id="350" name="Google Shape;350;p11"/>
          <p:cNvSpPr txBox="1"/>
          <p:nvPr/>
        </p:nvSpPr>
        <p:spPr>
          <a:xfrm>
            <a:off x="749808" y="1325880"/>
            <a:ext cx="99669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대구만의 문화를 만들고,</a:t>
            </a:r>
            <a:br>
              <a:rPr b="1" i="0" lang="en-US" sz="31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1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사람들이 머무를 이유를 만든다.</a:t>
            </a:r>
            <a:endParaRPr/>
          </a:p>
        </p:txBody>
      </p:sp>
      <p:sp>
        <p:nvSpPr>
          <p:cNvPr id="351" name="Google Shape;351;p11"/>
          <p:cNvSpPr txBox="1"/>
          <p:nvPr/>
        </p:nvSpPr>
        <p:spPr>
          <a:xfrm>
            <a:off x="804672" y="324612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커피와 베이커리로 시작해, 취향과 커뮤니티를 연결하고,</a:t>
            </a:r>
            <a:br>
              <a:rPr b="0" i="0" lang="en-US" sz="18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대구의 이야기를 지속 가능한 브랜드 IP로 키운다.</a:t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804672" y="4709160"/>
            <a:ext cx="1005840" cy="54864"/>
          </a:xfrm>
          <a:prstGeom prst="rect">
            <a:avLst/>
          </a:prstGeom>
          <a:solidFill>
            <a:srgbClr val="D369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804672" y="50292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5E2D4"/>
                </a:solidFill>
                <a:latin typeface="Arial"/>
                <a:ea typeface="Arial"/>
                <a:cs typeface="Arial"/>
                <a:sym typeface="Arial"/>
              </a:rPr>
              <a:t>DAEGU, IN A DAY</a:t>
            </a:r>
            <a:endParaRPr/>
          </a:p>
        </p:txBody>
      </p:sp>
      <p:sp>
        <p:nvSpPr>
          <p:cNvPr id="354" name="Google Shape;354;p11"/>
          <p:cNvSpPr txBox="1"/>
          <p:nvPr/>
        </p:nvSpPr>
        <p:spPr>
          <a:xfrm>
            <a:off x="804672" y="5532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8F5EE"/>
                </a:solidFill>
                <a:latin typeface="Arial"/>
                <a:ea typeface="Arial"/>
                <a:cs typeface="Arial"/>
                <a:sym typeface="Arial"/>
              </a:rPr>
              <a:t>대구를 경험하는 새로운 하루</a:t>
            </a:r>
            <a:endParaRPr/>
          </a:p>
        </p:txBody>
      </p:sp>
      <p:sp>
        <p:nvSpPr>
          <p:cNvPr id="355" name="Google Shape;355;p11"/>
          <p:cNvSpPr txBox="1"/>
          <p:nvPr/>
        </p:nvSpPr>
        <p:spPr>
          <a:xfrm>
            <a:off x="9738360" y="5897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2D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